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14" r:id="rId4"/>
    <p:sldId id="309" r:id="rId5"/>
    <p:sldId id="308" r:id="rId6"/>
    <p:sldId id="295" r:id="rId7"/>
    <p:sldId id="301" r:id="rId8"/>
    <p:sldId id="303" r:id="rId9"/>
    <p:sldId id="305" r:id="rId10"/>
    <p:sldId id="313" r:id="rId11"/>
    <p:sldId id="312" r:id="rId12"/>
    <p:sldId id="306" r:id="rId13"/>
    <p:sldId id="310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1531" autoAdjust="0"/>
  </p:normalViewPr>
  <p:slideViewPr>
    <p:cSldViewPr snapToGrid="0">
      <p:cViewPr varScale="1">
        <p:scale>
          <a:sx n="60" d="100"/>
          <a:sy n="60" d="100"/>
        </p:scale>
        <p:origin x="28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F8A8E-CBFF-4178-8A35-C9FDE9594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F1E1D-7C21-40EC-AEF0-9BDF1D203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dirty="0" smtClean="0">
                <a:solidFill>
                  <a:schemeClr val="tx1"/>
                </a:solidFill>
              </a:rPr>
              <a:t>Even thought the country is championing a massive digital transformation, farmers are often left out due to a lack of tools that can help address issues they encounter. (Addison et al., 2024) Also, Seerangan and Venkata Ravi (2024) argue that the lack of a structured, transparent marketplace forces farmers to sell produce at throwaway prices to middlemen who control the supply chain.  </a:t>
            </a:r>
          </a:p>
          <a:p>
            <a:pPr algn="just"/>
            <a:endParaRPr lang="en-US" sz="1200" dirty="0" smtClean="0">
              <a:solidFill>
                <a:schemeClr val="tx1"/>
              </a:solidFill>
            </a:endParaRPr>
          </a:p>
          <a:p>
            <a:pPr algn="just"/>
            <a:r>
              <a:rPr lang="en-US" sz="1200" dirty="0" smtClean="0">
                <a:solidFill>
                  <a:schemeClr val="tx1"/>
                </a:solidFill>
              </a:rPr>
              <a:t>Many farmers also lack technical know-how, often incurring losses.</a:t>
            </a:r>
          </a:p>
          <a:p>
            <a:pPr algn="just"/>
            <a:endParaRPr lang="en-US" sz="1200" dirty="0" smtClean="0">
              <a:solidFill>
                <a:schemeClr val="tx1"/>
              </a:solidFill>
            </a:endParaRPr>
          </a:p>
          <a:p>
            <a:pPr algn="just"/>
            <a:r>
              <a:rPr lang="en-US" sz="1200" dirty="0" smtClean="0">
                <a:solidFill>
                  <a:schemeClr val="tx1"/>
                </a:solidFill>
              </a:rPr>
              <a:t>Recent advancements in technology such as Artificial Intelligence and Web Technologies offer a pathway to bridge these gaps, </a:t>
            </a:r>
            <a:r>
              <a:rPr lang="en-US" sz="1200" dirty="0" err="1" smtClean="0">
                <a:solidFill>
                  <a:schemeClr val="tx1"/>
                </a:solidFill>
              </a:rPr>
              <a:t>ie</a:t>
            </a:r>
            <a:r>
              <a:rPr lang="en-US" sz="1200" dirty="0" smtClean="0">
                <a:solidFill>
                  <a:schemeClr val="tx1"/>
                </a:solidFill>
              </a:rPr>
              <a:t> Early disease identification and harvest yield optimization. (Babatunde et al., 2025) This project seeks to harness these technologies to create a holistic “Smart-Farm” ecosystem.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1E1D-7C21-40EC-AEF0-9BDF1D203F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44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1E1D-7C21-40EC-AEF0-9BDF1D203F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41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Farmer: </a:t>
            </a:r>
            <a:r>
              <a:rPr lang="en-US" dirty="0" smtClean="0">
                <a:solidFill>
                  <a:schemeClr val="tx1"/>
                </a:solidFill>
              </a:rPr>
              <a:t>Addison et al. (2024) found that digital adoption correlates with improved financial, human, and social capital for farmers in Ghana.</a:t>
            </a:r>
          </a:p>
          <a:p>
            <a:pPr marL="228600" indent="-228600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For the Agric Sector: By implementing lightweight models as suggested by Islam et al. (2025), this tool brings high-end diagnostics to low-resource environments.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>
                <a:solidFill>
                  <a:schemeClr val="tx1"/>
                </a:solidFill>
              </a:rPr>
              <a:t>For Academia: demonstrating how integrated approaches (soil, disease, and market) can function in a unified system, a need highlighted by Khaliq et al. (2025).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1E1D-7C21-40EC-AEF0-9BDF1D203F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23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1. Frontend:</a:t>
            </a:r>
            <a:r>
              <a:rPr lang="en-US" sz="1200" dirty="0" smtClean="0">
                <a:solidFill>
                  <a:schemeClr val="tx1"/>
                </a:solidFill>
              </a:rPr>
              <a:t> Built with </a:t>
            </a:r>
            <a:r>
              <a:rPr lang="en-US" sz="1200" b="1" dirty="0" smtClean="0">
                <a:solidFill>
                  <a:schemeClr val="tx1"/>
                </a:solidFill>
              </a:rPr>
              <a:t>React</a:t>
            </a:r>
            <a:r>
              <a:rPr lang="en-US" sz="1200" dirty="0" smtClean="0">
                <a:solidFill>
                  <a:schemeClr val="tx1"/>
                </a:solidFill>
              </a:rPr>
              <a:t> for a responsive user interface.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2. Backend:</a:t>
            </a:r>
            <a:r>
              <a:rPr lang="en-US" sz="1200" dirty="0" smtClean="0">
                <a:solidFill>
                  <a:schemeClr val="tx1"/>
                </a:solidFill>
              </a:rPr>
              <a:t> A </a:t>
            </a:r>
            <a:r>
              <a:rPr lang="en-US" sz="1200" b="1" dirty="0" smtClean="0">
                <a:solidFill>
                  <a:schemeClr val="tx1"/>
                </a:solidFill>
              </a:rPr>
              <a:t>Node.js</a:t>
            </a:r>
            <a:r>
              <a:rPr lang="en-US" sz="1200" dirty="0" smtClean="0">
                <a:solidFill>
                  <a:schemeClr val="tx1"/>
                </a:solidFill>
              </a:rPr>
              <a:t> server handles the application logic, while a </a:t>
            </a:r>
            <a:r>
              <a:rPr lang="en-US" sz="1200" b="1" dirty="0" smtClean="0">
                <a:solidFill>
                  <a:schemeClr val="tx1"/>
                </a:solidFill>
              </a:rPr>
              <a:t>Python (Flask/FastAPI)</a:t>
            </a:r>
            <a:r>
              <a:rPr lang="en-US" sz="1200" dirty="0" smtClean="0">
                <a:solidFill>
                  <a:schemeClr val="tx1"/>
                </a:solidFill>
              </a:rPr>
              <a:t> microservice hosts the AI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3. Database: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</a:rPr>
              <a:t>MySQL</a:t>
            </a:r>
            <a:r>
              <a:rPr lang="en-US" sz="1200" dirty="0" smtClean="0">
                <a:solidFill>
                  <a:schemeClr val="tx1"/>
                </a:solidFill>
              </a:rPr>
              <a:t> is used for storing user data, products, and chat logs.</a:t>
            </a:r>
          </a:p>
          <a:p>
            <a:endParaRPr lang="en-US" sz="1200" b="1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1E1D-7C21-40EC-AEF0-9BDF1D203F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8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2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 userDrawn="1">
          <p15:clr>
            <a:srgbClr val="FBAE40"/>
          </p15:clr>
        </p15:guide>
        <p15:guide id="2" pos="144" userDrawn="1">
          <p15:clr>
            <a:srgbClr val="FBAE40"/>
          </p15:clr>
        </p15:guide>
        <p15:guide id="3" pos="7536" userDrawn="1">
          <p15:clr>
            <a:srgbClr val="FBAE40"/>
          </p15:clr>
        </p15:guide>
        <p15:guide id="4" orient="horz" pos="144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  <p15:guide id="6" pos="3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lvl="0"/>
            <a:r>
              <a:rPr lang="en-US" dirty="0"/>
              <a:t>Table of Contents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3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4</a:t>
            </a:r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015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9236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6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9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65361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7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577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5784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66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26223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816193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>
            <a:spLocks/>
          </p:cNvSpPr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</a:p>
        </p:txBody>
      </p:sp>
      <p:sp>
        <p:nvSpPr>
          <p:cNvPr id="9" name="Google Shape;357;p34"/>
          <p:cNvSpPr txBox="1">
            <a:spLocks/>
          </p:cNvSpPr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5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6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9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98604"/>
            <a:ext cx="817120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Department of Information Technology and Decision Sciences</a:t>
            </a:r>
            <a:endParaRPr lang="LID4096" altLang="LID4096" sz="2400" b="1" dirty="0">
              <a:solidFill>
                <a:schemeClr val="bg1"/>
              </a:solidFill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IMPLEMENTATION OF AN INTEGRATED WEB-BASED AGRICULTURAL ECOSYSTEM: A SOLUTION FOR MARKET ACCESS, AUTOMATED DISEASE </a:t>
            </a:r>
            <a:r>
              <a:rPr lang="en-US" sz="19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DIAGNOSTICS AND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AGRONOMIC ADVISORY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sz="24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DORMAKA SAMUEL MANU – UEB3224322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BIMPONG PATRICK – UEB3225622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ABUBAKAR NAZIR – UEB3225222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AGYEI HERBERT AMPONSAH – UEB3232122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BOTCHWEY JEFFREY NTOW – UEB3223922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sz="24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2200" b="1" dirty="0" smtClean="0">
                <a:solidFill>
                  <a:schemeClr val="bg1"/>
                </a:solidFill>
                <a:latin typeface="+mj-lt"/>
              </a:rPr>
              <a:t>Group Number: 2B</a:t>
            </a:r>
            <a:endParaRPr lang="LID4096" altLang="LID4096" sz="2200" b="1" dirty="0">
              <a:solidFill>
                <a:schemeClr val="bg1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LID4096" altLang="LID4096" sz="2200" b="1" dirty="0">
                <a:solidFill>
                  <a:schemeClr val="bg1"/>
                </a:solidFill>
                <a:latin typeface="+mj-lt"/>
              </a:rPr>
              <a:t>Supervisor’s </a:t>
            </a:r>
            <a:r>
              <a:rPr lang="LID4096" altLang="LID4096" sz="2200" b="1" dirty="0" smtClean="0">
                <a:solidFill>
                  <a:schemeClr val="bg1"/>
                </a:solidFill>
                <a:latin typeface="+mj-lt"/>
              </a:rPr>
              <a:t>Name</a:t>
            </a:r>
            <a:r>
              <a:rPr lang="en-US" altLang="LID4096" sz="2200" b="1" dirty="0" smtClean="0">
                <a:solidFill>
                  <a:schemeClr val="bg1"/>
                </a:solidFill>
                <a:latin typeface="+mj-lt"/>
              </a:rPr>
              <a:t>: Dr. A.A. Anokye</a:t>
            </a:r>
            <a:endParaRPr lang="LID4096" altLang="LID4096" sz="2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652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9F3AA-82C5-72EC-25C0-CB7C8D76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087" y="1564684"/>
            <a:ext cx="10561387" cy="4421272"/>
          </a:xfrm>
        </p:spPr>
        <p:txBody>
          <a:bodyPr>
            <a:no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Introduction / Background of the study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Problem Statement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Aim and Objectives of the project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Significance of the Study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 smtClean="0">
                <a:solidFill>
                  <a:schemeClr val="tx1"/>
                </a:solidFill>
                <a:latin typeface="+mj-lt"/>
              </a:rPr>
              <a:t>Scope</a:t>
            </a:r>
            <a:endParaRPr lang="en-US" altLang="LID4096" sz="2800" dirty="0">
              <a:solidFill>
                <a:schemeClr val="tx1"/>
              </a:solidFill>
              <a:latin typeface="+mj-lt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Literature Review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Methodology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Expected Output / Results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Project Work Plan / Timeline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2800" dirty="0">
                <a:solidFill>
                  <a:schemeClr val="tx1"/>
                </a:solidFill>
                <a:latin typeface="+mj-lt"/>
              </a:rPr>
              <a:t>Conclusion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2800" dirty="0">
              <a:solidFill>
                <a:schemeClr val="tx1"/>
              </a:solidFill>
              <a:latin typeface="+mj-lt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1710DE-825C-F5F3-B5EA-FEDC8290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533E-9FA6-0D0B-EC87-F434B95F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13E50-AD02-1E03-81E3-1941FBEC6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364" y="400967"/>
            <a:ext cx="11191551" cy="4143962"/>
          </a:xfrm>
        </p:spPr>
        <p:txBody>
          <a:bodyPr>
            <a:noAutofit/>
          </a:bodyPr>
          <a:lstStyle/>
          <a:p>
            <a:pPr algn="just"/>
            <a:endParaRPr lang="en-US" sz="1800" dirty="0" smtClean="0">
              <a:solidFill>
                <a:schemeClr val="tx1"/>
              </a:solidFill>
            </a:endParaRP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endParaRPr lang="en-US" sz="1800" dirty="0" smtClean="0">
              <a:solidFill>
                <a:schemeClr val="tx1"/>
              </a:solidFill>
            </a:endParaRP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2500" dirty="0" smtClean="0">
                <a:solidFill>
                  <a:schemeClr val="tx1"/>
                </a:solidFill>
              </a:rPr>
              <a:t>The agricultural sector is widely recognized as a catalyst for economic growth and poverty reduction in developing nations. However, the sector is currently undergoing a "digital divide" where the benefits of technology are not reaching the farmers who need them most.</a:t>
            </a: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endParaRPr lang="en-US" sz="1800" dirty="0" smtClean="0">
              <a:solidFill>
                <a:schemeClr val="tx1"/>
              </a:solidFill>
            </a:endParaRP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B69A6D-0F07-4EC2-1EC5-28359978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21885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2167-4161-7E25-90A1-F1491D20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48A66-5560-3F70-42C2-DBB21214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641" y="1495384"/>
            <a:ext cx="10561387" cy="442127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Smallholder farmers in Ghana face a </a:t>
            </a:r>
            <a:r>
              <a:rPr lang="en-US" b="1" dirty="0">
                <a:solidFill>
                  <a:schemeClr val="tx1"/>
                </a:solidFill>
              </a:rPr>
              <a:t>"Triple Threat"</a:t>
            </a:r>
            <a:r>
              <a:rPr lang="en-US" dirty="0">
                <a:solidFill>
                  <a:schemeClr val="tx1"/>
                </a:solidFill>
              </a:rPr>
              <a:t> to their livelihoods: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>
                <a:solidFill>
                  <a:schemeClr val="tx1"/>
                </a:solidFill>
              </a:rPr>
              <a:t>Market Isolation.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>
                <a:solidFill>
                  <a:schemeClr val="tx1"/>
                </a:solidFill>
              </a:rPr>
              <a:t>Diagnostic Gap.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>
                <a:solidFill>
                  <a:schemeClr val="tx1"/>
                </a:solidFill>
              </a:rPr>
              <a:t>Advisory Gap.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4816C8-97F1-DFCE-3570-148C1221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2.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42596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8F94-3B9C-BCA2-3F85-90564D67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9A1F3-74A9-593F-297A-8FD663A4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529" y="1396313"/>
            <a:ext cx="10561387" cy="4720281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>
                <a:solidFill>
                  <a:schemeClr val="tx1"/>
                </a:solidFill>
              </a:rPr>
              <a:t>3.1 Main Objective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To design and implement an integrated web-based platform that facilitates agricultural e-commerce and provides AI-driven diagnostic and advisory support to crop and poultry farmers</a:t>
            </a:r>
            <a:r>
              <a:rPr lang="en-US" sz="2600" dirty="0" smtClean="0">
                <a:solidFill>
                  <a:schemeClr val="tx1"/>
                </a:solidFill>
              </a:rPr>
              <a:t>.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endParaRPr lang="en-US" sz="26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600" b="1" dirty="0" smtClean="0">
                <a:solidFill>
                  <a:schemeClr val="tx1"/>
                </a:solidFill>
              </a:rPr>
              <a:t>3.2 </a:t>
            </a:r>
            <a:r>
              <a:rPr lang="en-US" sz="2600" b="1" dirty="0">
                <a:solidFill>
                  <a:schemeClr val="tx1"/>
                </a:solidFill>
              </a:rPr>
              <a:t>Specific Objectives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</a:rPr>
              <a:t>To develop an e-commerce </a:t>
            </a:r>
            <a:r>
              <a:rPr lang="en-US" sz="2600" dirty="0" smtClean="0">
                <a:solidFill>
                  <a:schemeClr val="tx1"/>
                </a:solidFill>
              </a:rPr>
              <a:t>module.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</a:rPr>
              <a:t>To implement a Machine Learning model.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</a:rPr>
              <a:t>To </a:t>
            </a:r>
            <a:r>
              <a:rPr lang="en-US" sz="2600" dirty="0">
                <a:solidFill>
                  <a:schemeClr val="tx1"/>
                </a:solidFill>
              </a:rPr>
              <a:t>create an interactive </a:t>
            </a:r>
            <a:r>
              <a:rPr lang="en-US" sz="2600" dirty="0" smtClean="0">
                <a:solidFill>
                  <a:schemeClr val="tx1"/>
                </a:solidFill>
              </a:rPr>
              <a:t>Chatbot. </a:t>
            </a:r>
            <a:endParaRPr lang="en-US" sz="2600" dirty="0">
              <a:solidFill>
                <a:schemeClr val="tx1"/>
              </a:solidFill>
            </a:endParaRPr>
          </a:p>
          <a:p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 smtClean="0"/>
              <a:t>	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91E7BF-E75E-6161-9364-609E7721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3. Objective</a:t>
            </a:r>
          </a:p>
        </p:txBody>
      </p:sp>
    </p:spTree>
    <p:extLst>
      <p:ext uri="{BB962C8B-B14F-4D97-AF65-F5344CB8AC3E}">
        <p14:creationId xmlns:p14="http://schemas.microsoft.com/office/powerpoint/2010/main" val="17318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51E0-F033-B616-36C5-9FA713C8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CD23D-8EBD-EC00-E8A9-5D5AD1D10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365" y="1890623"/>
            <a:ext cx="11836428" cy="447773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This study is significant because it moves beyond theoretical research into practical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For the Farmer:</a:t>
            </a:r>
            <a:r>
              <a:rPr lang="en-US" sz="2800" dirty="0">
                <a:solidFill>
                  <a:schemeClr val="tx1"/>
                </a:solidFill>
              </a:rPr>
              <a:t> It directly impacts livelihoods.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For the Agriculture Sector:</a:t>
            </a:r>
            <a:r>
              <a:rPr lang="en-US" sz="2800" dirty="0">
                <a:solidFill>
                  <a:schemeClr val="tx1"/>
                </a:solidFill>
              </a:rPr>
              <a:t> It democratizes access to veterinary expertise.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For Academia:</a:t>
            </a:r>
            <a:r>
              <a:rPr lang="en-US" sz="2800" dirty="0">
                <a:solidFill>
                  <a:schemeClr val="tx1"/>
                </a:solidFill>
              </a:rPr>
              <a:t> It contributes to the field of "Precision </a:t>
            </a:r>
            <a:r>
              <a:rPr lang="en-US" sz="2800" dirty="0" smtClean="0">
                <a:solidFill>
                  <a:schemeClr val="tx1"/>
                </a:solidFill>
              </a:rPr>
              <a:t>Agriculture“.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C085B6-810E-4F72-0DDC-3948CE91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/>
              <a:t>4. Significance Of The Study</a:t>
            </a:r>
          </a:p>
        </p:txBody>
      </p:sp>
    </p:spTree>
    <p:extLst>
      <p:ext uri="{BB962C8B-B14F-4D97-AF65-F5344CB8AC3E}">
        <p14:creationId xmlns:p14="http://schemas.microsoft.com/office/powerpoint/2010/main" val="158285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23E3-404D-D726-39A2-F54B48FDA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018C6-8357-B75C-301A-5A1D0B8BC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25" y="1544810"/>
            <a:ext cx="10561387" cy="4421272"/>
          </a:xfrm>
        </p:spPr>
        <p:txBody>
          <a:bodyPr>
            <a:noAutofit/>
          </a:bodyPr>
          <a:lstStyle/>
          <a:p>
            <a:endParaRPr lang="en-US" sz="2200" b="1" dirty="0" smtClean="0">
              <a:solidFill>
                <a:schemeClr val="tx1"/>
              </a:solidFill>
            </a:endParaRPr>
          </a:p>
          <a:p>
            <a:r>
              <a:rPr lang="en-US" sz="2200" b="1" dirty="0" smtClean="0">
                <a:solidFill>
                  <a:schemeClr val="tx1"/>
                </a:solidFill>
              </a:rPr>
              <a:t>5.1 </a:t>
            </a:r>
            <a:r>
              <a:rPr lang="en-US" sz="2200" b="1" dirty="0">
                <a:solidFill>
                  <a:schemeClr val="tx1"/>
                </a:solidFill>
              </a:rPr>
              <a:t>Scope</a:t>
            </a:r>
          </a:p>
          <a:p>
            <a:endParaRPr lang="en-US" sz="2200" b="1" dirty="0" smtClean="0">
              <a:solidFill>
                <a:schemeClr val="tx1"/>
              </a:solidFill>
            </a:endParaRPr>
          </a:p>
          <a:p>
            <a:r>
              <a:rPr lang="en-US" sz="2600" b="1" dirty="0" smtClean="0">
                <a:solidFill>
                  <a:schemeClr val="tx1"/>
                </a:solidFill>
              </a:rPr>
              <a:t>Scope</a:t>
            </a:r>
            <a:r>
              <a:rPr lang="en-US" sz="2600" b="1" dirty="0">
                <a:solidFill>
                  <a:schemeClr val="tx1"/>
                </a:solidFill>
              </a:rPr>
              <a:t>:</a:t>
            </a:r>
            <a:r>
              <a:rPr lang="en-US" sz="2600" dirty="0">
                <a:solidFill>
                  <a:schemeClr val="tx1"/>
                </a:solidFill>
              </a:rPr>
              <a:t> The AI detection is currently limited to Coccidiosis via droppings and does not cover respiratory diseases that require audio/visual analysis of the bird itself</a:t>
            </a:r>
            <a:r>
              <a:rPr lang="en-US" sz="2600" dirty="0" smtClean="0">
                <a:solidFill>
                  <a:schemeClr val="tx1"/>
                </a:solidFill>
              </a:rPr>
              <a:t>. And the AI powered chatbot is currently limited in providing general professional knowledge for both crop farmers and poultry farmers. </a:t>
            </a:r>
            <a:endParaRPr lang="en-US" sz="26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84439F-E6B5-D0FE-5BFA-F1FEA802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/>
              <a:t>5. </a:t>
            </a:r>
            <a:r>
              <a:rPr lang="en-US" sz="4400" b="1" dirty="0" smtClean="0"/>
              <a:t>Scope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82800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61A1-FB57-DD18-8B59-0CBB7872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5D0F8-548E-5E50-3E46-FC0B61E7A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492" y="1618952"/>
            <a:ext cx="11093424" cy="4421272"/>
          </a:xfrm>
        </p:spPr>
        <p:txBody>
          <a:bodyPr>
            <a:noAutofit/>
          </a:bodyPr>
          <a:lstStyle/>
          <a:p>
            <a:r>
              <a:rPr lang="en-US" sz="2000" b="1" u="sng" dirty="0" smtClean="0">
                <a:solidFill>
                  <a:schemeClr val="tx1"/>
                </a:solidFill>
              </a:rPr>
              <a:t>Existing Solutions</a:t>
            </a:r>
            <a:endParaRPr lang="en-US" sz="2000" u="sng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</a:rPr>
              <a:t>E-Commerce</a:t>
            </a:r>
            <a:r>
              <a:rPr lang="en-US" sz="2000" b="1" dirty="0">
                <a:solidFill>
                  <a:schemeClr val="tx1"/>
                </a:solidFill>
              </a:rPr>
              <a:t>:</a:t>
            </a:r>
            <a:r>
              <a:rPr lang="en-US" sz="2000" dirty="0">
                <a:solidFill>
                  <a:schemeClr val="tx1"/>
                </a:solidFill>
              </a:rPr>
              <a:t> Research shows digital marketplaces increase price transparency and farmer profit margins.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 Diagnostics:</a:t>
            </a:r>
            <a:r>
              <a:rPr lang="en-US" sz="2000" dirty="0">
                <a:solidFill>
                  <a:schemeClr val="tx1"/>
                </a:solidFill>
              </a:rPr>
              <a:t> Studies by </a:t>
            </a:r>
            <a:r>
              <a:rPr lang="en-US" sz="2000" i="1" dirty="0">
                <a:solidFill>
                  <a:schemeClr val="tx1"/>
                </a:solidFill>
              </a:rPr>
              <a:t>Degu &amp; Simegn (2023)</a:t>
            </a:r>
            <a:r>
              <a:rPr lang="en-US" sz="2000" dirty="0">
                <a:solidFill>
                  <a:schemeClr val="tx1"/>
                </a:solidFill>
              </a:rPr>
              <a:t> prove that CNNs can identify poultry diseases from fecal images with over 95%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Precision Agriculture:</a:t>
            </a:r>
            <a:r>
              <a:rPr lang="en-US" sz="2000" dirty="0">
                <a:solidFill>
                  <a:schemeClr val="tx1"/>
                </a:solidFill>
              </a:rPr>
              <a:t> AI models like Random Forest are now the global standard for soil-specific fertilizer recommendations </a:t>
            </a:r>
            <a:r>
              <a:rPr lang="en-US" sz="2000" i="1" dirty="0">
                <a:solidFill>
                  <a:schemeClr val="tx1"/>
                </a:solidFill>
              </a:rPr>
              <a:t>(Babatunde et al., 2025)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b="1" u="sng" dirty="0" smtClean="0">
                <a:solidFill>
                  <a:schemeClr val="tx1"/>
                </a:solidFill>
              </a:rPr>
              <a:t>Gaps</a:t>
            </a:r>
            <a:endParaRPr lang="en-US" sz="2000" u="sng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Fragmentation:</a:t>
            </a:r>
            <a:r>
              <a:rPr lang="en-US" sz="2000" dirty="0">
                <a:solidFill>
                  <a:schemeClr val="tx1"/>
                </a:solidFill>
              </a:rPr>
              <a:t> Most systems are </a:t>
            </a:r>
            <a:r>
              <a:rPr lang="en-US" sz="2000" dirty="0" smtClean="0">
                <a:solidFill>
                  <a:schemeClr val="tx1"/>
                </a:solidFill>
              </a:rPr>
              <a:t>“one-way“, </a:t>
            </a:r>
            <a:r>
              <a:rPr lang="en-US" sz="2000" dirty="0" err="1" smtClean="0">
                <a:solidFill>
                  <a:schemeClr val="tx1"/>
                </a:solidFill>
              </a:rPr>
              <a:t>ie</a:t>
            </a:r>
            <a:r>
              <a:rPr lang="en-US" sz="2000" dirty="0" smtClean="0">
                <a:solidFill>
                  <a:schemeClr val="tx1"/>
                </a:solidFill>
              </a:rPr>
              <a:t>, they </a:t>
            </a:r>
            <a:r>
              <a:rPr lang="en-US" sz="2000" dirty="0">
                <a:solidFill>
                  <a:schemeClr val="tx1"/>
                </a:solidFill>
              </a:rPr>
              <a:t>offer one service (like sales) but ignore others (like health).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Resource Heavy:</a:t>
            </a:r>
            <a:r>
              <a:rPr lang="en-US" sz="2000" dirty="0">
                <a:solidFill>
                  <a:schemeClr val="tx1"/>
                </a:solidFill>
              </a:rPr>
              <a:t> Many existing AI models are too large for the low-spec mobile devices used in rural areas.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D4124B-7FA5-FD99-9071-4673D37B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/>
              <a:t>6. LITERATURE REVIEW (Brief)</a:t>
            </a:r>
          </a:p>
        </p:txBody>
      </p:sp>
    </p:spTree>
    <p:extLst>
      <p:ext uri="{BB962C8B-B14F-4D97-AF65-F5344CB8AC3E}">
        <p14:creationId xmlns:p14="http://schemas.microsoft.com/office/powerpoint/2010/main" val="421625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07C0-D329-F367-C257-415F4E62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D5121A-A065-400F-50E7-9377841F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/>
              <a:t>7. Methodology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B95CAD-C72E-4C8B-B245-C0E853F3E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1365" y="1447383"/>
            <a:ext cx="11716408" cy="467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700" b="1" dirty="0">
                <a:solidFill>
                  <a:schemeClr val="tx1"/>
                </a:solidFill>
              </a:rPr>
              <a:t>7. </a:t>
            </a:r>
            <a:r>
              <a:rPr lang="en-US" sz="1700" b="1" dirty="0" smtClean="0">
                <a:solidFill>
                  <a:schemeClr val="tx1"/>
                </a:solidFill>
              </a:rPr>
              <a:t>METHODOLOGY</a:t>
            </a:r>
          </a:p>
          <a:p>
            <a:pPr algn="just"/>
            <a:r>
              <a:rPr lang="en-US" sz="1700" b="1" dirty="0" smtClean="0">
                <a:solidFill>
                  <a:schemeClr val="tx1"/>
                </a:solidFill>
              </a:rPr>
              <a:t>7.1 </a:t>
            </a:r>
            <a:r>
              <a:rPr lang="en-US" sz="1700" b="1" dirty="0">
                <a:solidFill>
                  <a:schemeClr val="tx1"/>
                </a:solidFill>
              </a:rPr>
              <a:t>Research Design / </a:t>
            </a:r>
            <a:r>
              <a:rPr lang="en-US" sz="1700" b="1" dirty="0" smtClean="0">
                <a:solidFill>
                  <a:schemeClr val="tx1"/>
                </a:solidFill>
              </a:rPr>
              <a:t>Approach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</a:rPr>
              <a:t>This project follows the </a:t>
            </a:r>
            <a:r>
              <a:rPr lang="en-US" sz="1700" b="1" dirty="0">
                <a:solidFill>
                  <a:schemeClr val="tx1"/>
                </a:solidFill>
              </a:rPr>
              <a:t>Agile Software Development</a:t>
            </a:r>
            <a:r>
              <a:rPr lang="en-US" sz="1700" dirty="0">
                <a:solidFill>
                  <a:schemeClr val="tx1"/>
                </a:solidFill>
              </a:rPr>
              <a:t> methodology, allowing for iterative development of the marketplace, AI model, and chatbot features.</a:t>
            </a:r>
          </a:p>
          <a:p>
            <a:pPr algn="just"/>
            <a:r>
              <a:rPr lang="en-US" sz="1700" b="1" dirty="0" smtClean="0">
                <a:solidFill>
                  <a:schemeClr val="tx1"/>
                </a:solidFill>
              </a:rPr>
              <a:t>7.2 </a:t>
            </a:r>
            <a:r>
              <a:rPr lang="en-US" sz="1700" b="1" dirty="0">
                <a:solidFill>
                  <a:schemeClr val="tx1"/>
                </a:solidFill>
              </a:rPr>
              <a:t>Data Collection </a:t>
            </a:r>
            <a:r>
              <a:rPr lang="en-US" sz="1700" b="1" dirty="0" smtClean="0">
                <a:solidFill>
                  <a:schemeClr val="tx1"/>
                </a:solidFill>
              </a:rPr>
              <a:t>Methods</a:t>
            </a:r>
          </a:p>
          <a:p>
            <a:pPr algn="just"/>
            <a:r>
              <a:rPr lang="en-US" sz="1700" dirty="0" smtClean="0">
                <a:solidFill>
                  <a:schemeClr val="tx1"/>
                </a:solidFill>
              </a:rPr>
              <a:t>Datasets and Interviews.</a:t>
            </a:r>
            <a:endParaRPr lang="en-US" sz="1700" dirty="0">
              <a:solidFill>
                <a:schemeClr val="tx1"/>
              </a:solidFill>
            </a:endParaRPr>
          </a:p>
          <a:p>
            <a:pPr algn="just"/>
            <a:r>
              <a:rPr lang="en-US" sz="1700" b="1" dirty="0" smtClean="0">
                <a:solidFill>
                  <a:schemeClr val="tx1"/>
                </a:solidFill>
              </a:rPr>
              <a:t>7.3 </a:t>
            </a:r>
            <a:r>
              <a:rPr lang="en-US" sz="1700" b="1" dirty="0">
                <a:solidFill>
                  <a:schemeClr val="tx1"/>
                </a:solidFill>
              </a:rPr>
              <a:t>Tools and </a:t>
            </a:r>
            <a:r>
              <a:rPr lang="en-US" sz="1700" b="1" dirty="0" smtClean="0">
                <a:solidFill>
                  <a:schemeClr val="tx1"/>
                </a:solidFill>
              </a:rPr>
              <a:t>Technologies</a:t>
            </a:r>
          </a:p>
          <a:p>
            <a:pPr lvl="0"/>
            <a:r>
              <a:rPr lang="en-US" sz="1700" b="1" dirty="0">
                <a:solidFill>
                  <a:schemeClr val="tx1"/>
                </a:solidFill>
              </a:rPr>
              <a:t>Frontend:</a:t>
            </a:r>
            <a:r>
              <a:rPr lang="en-US" sz="1700" dirty="0">
                <a:solidFill>
                  <a:schemeClr val="tx1"/>
                </a:solidFill>
              </a:rPr>
              <a:t> Built with </a:t>
            </a:r>
            <a:r>
              <a:rPr lang="en-US" sz="1700" b="1" dirty="0">
                <a:solidFill>
                  <a:schemeClr val="tx1"/>
                </a:solidFill>
              </a:rPr>
              <a:t>React</a:t>
            </a:r>
            <a:r>
              <a:rPr lang="en-US" sz="1700" dirty="0">
                <a:solidFill>
                  <a:schemeClr val="tx1"/>
                </a:solidFill>
              </a:rPr>
              <a:t> for a responsive user interface.</a:t>
            </a:r>
          </a:p>
          <a:p>
            <a:pPr lvl="0"/>
            <a:r>
              <a:rPr lang="en-US" sz="1700" b="1" dirty="0">
                <a:solidFill>
                  <a:schemeClr val="tx1"/>
                </a:solidFill>
              </a:rPr>
              <a:t>Backend:</a:t>
            </a:r>
            <a:r>
              <a:rPr lang="en-US" sz="1700" dirty="0">
                <a:solidFill>
                  <a:schemeClr val="tx1"/>
                </a:solidFill>
              </a:rPr>
              <a:t> A </a:t>
            </a:r>
            <a:r>
              <a:rPr lang="en-US" sz="1700" b="1" dirty="0">
                <a:solidFill>
                  <a:schemeClr val="tx1"/>
                </a:solidFill>
              </a:rPr>
              <a:t>Node.js</a:t>
            </a:r>
            <a:r>
              <a:rPr lang="en-US" sz="1700" dirty="0">
                <a:solidFill>
                  <a:schemeClr val="tx1"/>
                </a:solidFill>
              </a:rPr>
              <a:t> server handles the application logic, while a </a:t>
            </a:r>
            <a:r>
              <a:rPr lang="en-US" sz="1700" b="1" dirty="0">
                <a:solidFill>
                  <a:schemeClr val="tx1"/>
                </a:solidFill>
              </a:rPr>
              <a:t>Python (Flask/FastAPI)</a:t>
            </a:r>
            <a:r>
              <a:rPr lang="en-US" sz="1700" dirty="0">
                <a:solidFill>
                  <a:schemeClr val="tx1"/>
                </a:solidFill>
              </a:rPr>
              <a:t> microservice hosts the AI model.</a:t>
            </a:r>
          </a:p>
          <a:p>
            <a:pPr lvl="0"/>
            <a:r>
              <a:rPr lang="en-US" sz="1700" b="1" dirty="0">
                <a:solidFill>
                  <a:schemeClr val="tx1"/>
                </a:solidFill>
              </a:rPr>
              <a:t>Database: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MySQL</a:t>
            </a:r>
            <a:r>
              <a:rPr lang="en-US" sz="1700" dirty="0">
                <a:solidFill>
                  <a:schemeClr val="tx1"/>
                </a:solidFill>
              </a:rPr>
              <a:t> is used for storing user data, products, and chat logs.</a:t>
            </a:r>
          </a:p>
          <a:p>
            <a:pPr algn="just"/>
            <a:r>
              <a:rPr lang="en-US" sz="1700" b="1" dirty="0" smtClean="0">
                <a:solidFill>
                  <a:schemeClr val="tx1"/>
                </a:solidFill>
              </a:rPr>
              <a:t>7.4 </a:t>
            </a:r>
            <a:r>
              <a:rPr lang="en-US" sz="1700" b="1" dirty="0">
                <a:solidFill>
                  <a:schemeClr val="tx1"/>
                </a:solidFill>
              </a:rPr>
              <a:t>System Architecture </a:t>
            </a:r>
            <a:r>
              <a:rPr lang="en-US" sz="1700" b="1">
                <a:solidFill>
                  <a:schemeClr val="tx1"/>
                </a:solidFill>
              </a:rPr>
              <a:t>/ </a:t>
            </a:r>
            <a:r>
              <a:rPr lang="en-US" sz="1700" b="1" smtClean="0">
                <a:solidFill>
                  <a:schemeClr val="tx1"/>
                </a:solidFill>
              </a:rPr>
              <a:t>Framework</a:t>
            </a:r>
            <a:endParaRPr lang="en-US" sz="1700" b="1" dirty="0">
              <a:solidFill>
                <a:schemeClr val="tx1"/>
              </a:solidFill>
            </a:endParaRPr>
          </a:p>
          <a:p>
            <a:pPr algn="just"/>
            <a:r>
              <a:rPr lang="en-US" sz="1700" dirty="0">
                <a:solidFill>
                  <a:schemeClr val="tx1"/>
                </a:solidFill>
              </a:rPr>
              <a:t>A</a:t>
            </a:r>
            <a:r>
              <a:rPr lang="en-US" sz="1700" dirty="0" smtClean="0">
                <a:solidFill>
                  <a:schemeClr val="tx1"/>
                </a:solidFill>
              </a:rPr>
              <a:t> </a:t>
            </a:r>
            <a:r>
              <a:rPr lang="en-US" sz="1700" dirty="0">
                <a:solidFill>
                  <a:schemeClr val="tx1"/>
                </a:solidFill>
              </a:rPr>
              <a:t>Convolutional Neural Network (CNN</a:t>
            </a:r>
            <a:r>
              <a:rPr lang="en-US" sz="1700" dirty="0" smtClean="0">
                <a:solidFill>
                  <a:schemeClr val="tx1"/>
                </a:solidFill>
              </a:rPr>
              <a:t>) will be implemented in order to classify the required images for the model.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43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AAE8-C7BB-80D6-F2EB-53C65F3D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7A594-D3FE-DBE0-5C91-02E7E349A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222" y="1954240"/>
            <a:ext cx="10940881" cy="3997132"/>
          </a:xfrm>
        </p:spPr>
        <p:txBody>
          <a:bodyPr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fully functional web application integrating E-commerce, AI diagnostics, and Advisory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 AI model capable of detecting Coccidiosis from fecal images with an accuracy target &gt;85%.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reduction in the "information asymmetry" faced by farmers, as described by Addison et al. (2024).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68C94-61B1-B3CA-2772-A79888A4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/>
              <a:t>8. Expected Output / Results</a:t>
            </a:r>
          </a:p>
        </p:txBody>
      </p:sp>
    </p:spTree>
    <p:extLst>
      <p:ext uri="{BB962C8B-B14F-4D97-AF65-F5344CB8AC3E}">
        <p14:creationId xmlns:p14="http://schemas.microsoft.com/office/powerpoint/2010/main" val="153991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49B8D-1EB1-43D6-9DAA-99613EF9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56" y="410393"/>
            <a:ext cx="10515600" cy="754833"/>
          </a:xfrm>
        </p:spPr>
        <p:txBody>
          <a:bodyPr/>
          <a:lstStyle/>
          <a:p>
            <a:r>
              <a:rPr lang="en-US" b="1" dirty="0"/>
              <a:t>9. Project Work Plan / Time Schedule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9C18B0-61AE-41FD-BE99-67DD617A9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37059"/>
              </p:ext>
            </p:extLst>
          </p:nvPr>
        </p:nvGraphicFramePr>
        <p:xfrm>
          <a:off x="807629" y="1536689"/>
          <a:ext cx="10894221" cy="455766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269203">
                  <a:extLst>
                    <a:ext uri="{9D8B030D-6E8A-4147-A177-3AD203B41FA5}">
                      <a16:colId xmlns:a16="http://schemas.microsoft.com/office/drawing/2014/main" val="3896531670"/>
                    </a:ext>
                  </a:extLst>
                </a:gridCol>
                <a:gridCol w="6484586">
                  <a:extLst>
                    <a:ext uri="{9D8B030D-6E8A-4147-A177-3AD203B41FA5}">
                      <a16:colId xmlns:a16="http://schemas.microsoft.com/office/drawing/2014/main" val="191923297"/>
                    </a:ext>
                  </a:extLst>
                </a:gridCol>
                <a:gridCol w="2140432">
                  <a:extLst>
                    <a:ext uri="{9D8B030D-6E8A-4147-A177-3AD203B41FA5}">
                      <a16:colId xmlns:a16="http://schemas.microsoft.com/office/drawing/2014/main" val="1181710099"/>
                    </a:ext>
                  </a:extLst>
                </a:gridCol>
              </a:tblGrid>
              <a:tr h="376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SN.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Activity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Duration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6800246"/>
                  </a:ext>
                </a:extLst>
              </a:tr>
              <a:tr h="60754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r>
                        <a:rPr lang="en-US" sz="1600" dirty="0" smtClean="0">
                          <a:effectLst/>
                        </a:rPr>
                        <a:t>. Phase 1: Research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Literature review, data collection (poultry feces images).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1 - 3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3810907"/>
                  </a:ext>
                </a:extLst>
              </a:tr>
              <a:tr h="55605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en-US" sz="1600" dirty="0" smtClean="0">
                          <a:effectLst/>
                        </a:rPr>
                        <a:t>. Phase 2: Design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UI/UX Prototyping and System Architecture design.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4 – 5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7729272"/>
                  </a:ext>
                </a:extLst>
              </a:tr>
              <a:tr h="61783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</a:t>
                      </a:r>
                      <a:r>
                        <a:rPr lang="en-US" sz="1600" dirty="0" smtClean="0">
                          <a:effectLst/>
                        </a:rPr>
                        <a:t>. Phase 3: Development</a:t>
                      </a:r>
                      <a:r>
                        <a:rPr lang="en-US" sz="1600" baseline="0" dirty="0" smtClean="0">
                          <a:effectLst/>
                        </a:rPr>
                        <a:t> I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Marketplace development and Chatbot Implementation.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6 - 9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69055"/>
                  </a:ext>
                </a:extLst>
              </a:tr>
              <a:tr h="54369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</a:t>
                      </a:r>
                      <a:r>
                        <a:rPr lang="en-US" sz="1600" dirty="0" smtClean="0">
                          <a:effectLst/>
                        </a:rPr>
                        <a:t>. Phase 4: Development II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 Model Training (Coccidiosis CNN &amp; Feed Optimizer).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10 – 15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0597435"/>
                  </a:ext>
                </a:extLst>
              </a:tr>
              <a:tr h="59312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r>
                        <a:rPr lang="en-US" sz="1600" dirty="0" smtClean="0">
                          <a:effectLst/>
                        </a:rPr>
                        <a:t>. Phase 5: Integration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Connecting ML models to the Web App.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16 - 18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3574755"/>
                  </a:ext>
                </a:extLst>
              </a:tr>
              <a:tr h="6862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</a:t>
                      </a:r>
                      <a:r>
                        <a:rPr lang="en-US" sz="1600" dirty="0" smtClean="0">
                          <a:effectLst/>
                        </a:rPr>
                        <a:t>. Phase 6: Testing</a:t>
                      </a:r>
                      <a:r>
                        <a:rPr lang="en-US" sz="1600" baseline="0" dirty="0" smtClean="0">
                          <a:effectLst/>
                        </a:rPr>
                        <a:t> and Defense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 fixing, Field testing with farmers, and Final Thesis.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19 - 21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830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51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29F8-7F21-E14C-A157-6FFDA7AD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1AD4B-51CA-ED9D-B4E1-96324B0D9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49" y="1676531"/>
            <a:ext cx="10940881" cy="3451523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chemeClr val="tx1"/>
                </a:solidFill>
              </a:rPr>
              <a:t>Summary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This project implements an integrated web-based ecosystem called "Agri-Go" to unify market access, AI disease detection, and expert advice.</a:t>
            </a:r>
          </a:p>
          <a:p>
            <a:endParaRPr lang="en-US" sz="2200" b="1" dirty="0" smtClean="0">
              <a:solidFill>
                <a:schemeClr val="tx1"/>
              </a:solidFill>
            </a:endParaRPr>
          </a:p>
          <a:p>
            <a:r>
              <a:rPr lang="en-US" sz="2200" b="1" dirty="0" smtClean="0">
                <a:solidFill>
                  <a:schemeClr val="tx1"/>
                </a:solidFill>
              </a:rPr>
              <a:t>Methodology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Developed using </a:t>
            </a:r>
            <a:r>
              <a:rPr lang="en-US" sz="2200" b="1" dirty="0">
                <a:solidFill>
                  <a:schemeClr val="tx1"/>
                </a:solidFill>
              </a:rPr>
              <a:t>Agile</a:t>
            </a:r>
            <a:r>
              <a:rPr lang="en-US" sz="2200" dirty="0">
                <a:solidFill>
                  <a:schemeClr val="tx1"/>
                </a:solidFill>
              </a:rPr>
              <a:t> principles with a tech stack featuring </a:t>
            </a:r>
            <a:r>
              <a:rPr lang="en-US" sz="2200" b="1" dirty="0">
                <a:solidFill>
                  <a:schemeClr val="tx1"/>
                </a:solidFill>
              </a:rPr>
              <a:t>React, Node.js, and TensorFlow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endParaRPr lang="en-US" sz="2200" b="1" dirty="0" smtClean="0">
              <a:solidFill>
                <a:schemeClr val="tx1"/>
              </a:solidFill>
            </a:endParaRPr>
          </a:p>
          <a:p>
            <a:r>
              <a:rPr lang="en-US" sz="2200" b="1" dirty="0" smtClean="0">
                <a:solidFill>
                  <a:schemeClr val="tx1"/>
                </a:solidFill>
              </a:rPr>
              <a:t>Impact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The study provides a feasible, low-cost solution for rural environments, demonstrating high practical value for the digitalization of Ghanaian agriculture within the scope of a BSc study.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06BB68-2056-A084-4B64-F02DB5DE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10. Conclusion</a:t>
            </a:r>
          </a:p>
        </p:txBody>
      </p:sp>
    </p:spTree>
    <p:extLst>
      <p:ext uri="{BB962C8B-B14F-4D97-AF65-F5344CB8AC3E}">
        <p14:creationId xmlns:p14="http://schemas.microsoft.com/office/powerpoint/2010/main" val="3710392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29F8-7F21-E14C-A157-6FFDA7AD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1AD4B-51CA-ED9D-B4E1-96324B0D9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446" y="1384555"/>
            <a:ext cx="10876470" cy="4615880"/>
          </a:xfrm>
        </p:spPr>
        <p:txBody>
          <a:bodyPr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Addison, M., Bonuedi, I., Arhin, A. A., Wadei, B., Owusu-Addo, E., Antoh, E. F., &amp; Mensah-</a:t>
            </a:r>
            <a:r>
              <a:rPr lang="en-US" sz="1500" b="1" dirty="0" err="1">
                <a:solidFill>
                  <a:schemeClr val="tx1"/>
                </a:solidFill>
              </a:rPr>
              <a:t>Odum</a:t>
            </a:r>
            <a:r>
              <a:rPr lang="en-US" sz="1500" b="1" dirty="0">
                <a:solidFill>
                  <a:schemeClr val="tx1"/>
                </a:solidFill>
              </a:rPr>
              <a:t>, N. (2024).</a:t>
            </a:r>
            <a:r>
              <a:rPr lang="en-US" sz="1500" dirty="0">
                <a:solidFill>
                  <a:schemeClr val="tx1"/>
                </a:solidFill>
              </a:rPr>
              <a:t> Exploring the impact of agricultural digitalization on smallholder farmers’ livelihoods in Ghana. </a:t>
            </a:r>
            <a:r>
              <a:rPr lang="en-US" sz="1500" i="1" dirty="0">
                <a:solidFill>
                  <a:schemeClr val="tx1"/>
                </a:solidFill>
              </a:rPr>
              <a:t>Heliyon</a:t>
            </a:r>
            <a:r>
              <a:rPr lang="en-US" sz="1500" dirty="0">
                <a:solidFill>
                  <a:schemeClr val="tx1"/>
                </a:solidFill>
              </a:rPr>
              <a:t>, 10, e27541.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Babatunde, R. S., Musa, A., Abdulrahman, O. L., Alao, B., Ajao, J., Olatinwo, L., &amp; Alabi, A. (2025).</a:t>
            </a:r>
            <a:r>
              <a:rPr lang="en-US" sz="1500" dirty="0">
                <a:solidFill>
                  <a:schemeClr val="tx1"/>
                </a:solidFill>
              </a:rPr>
              <a:t> AI-Driven Precision Agriculture: A Narrative of the Potential for Sustainable Crop Management. </a:t>
            </a:r>
            <a:r>
              <a:rPr lang="en-US" sz="1500" i="1" dirty="0">
                <a:solidFill>
                  <a:schemeClr val="tx1"/>
                </a:solidFill>
              </a:rPr>
              <a:t>Caliphate Journal of Science &amp; Technology</a:t>
            </a:r>
            <a:r>
              <a:rPr lang="en-US" sz="1500" dirty="0">
                <a:solidFill>
                  <a:schemeClr val="tx1"/>
                </a:solidFill>
              </a:rPr>
              <a:t>, 2, 207-220.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smtClean="0">
                <a:solidFill>
                  <a:schemeClr val="tx1"/>
                </a:solidFill>
              </a:rPr>
              <a:t>Degu</a:t>
            </a:r>
            <a:r>
              <a:rPr lang="en-US" sz="1500" b="1" dirty="0">
                <a:solidFill>
                  <a:schemeClr val="tx1"/>
                </a:solidFill>
              </a:rPr>
              <a:t>, M. Z., &amp; Simegn, G. L. (2023).</a:t>
            </a:r>
            <a:r>
              <a:rPr lang="en-US" sz="1500" dirty="0">
                <a:solidFill>
                  <a:schemeClr val="tx1"/>
                </a:solidFill>
              </a:rPr>
              <a:t> Smartphone based detection and classification of poultry diseases from chicken fecal images using deep learning techniques. </a:t>
            </a:r>
            <a:r>
              <a:rPr lang="en-US" sz="1500" i="1" dirty="0">
                <a:solidFill>
                  <a:schemeClr val="tx1"/>
                </a:solidFill>
              </a:rPr>
              <a:t>Smart Agricultural Technology</a:t>
            </a:r>
            <a:r>
              <a:rPr lang="en-US" sz="1500" dirty="0">
                <a:solidFill>
                  <a:schemeClr val="tx1"/>
                </a:solidFill>
              </a:rPr>
              <a:t>, 4, 100221.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Islam, A. K. M. S., Hassan, M. R., Uddin, M., &amp; Rahman, M. S. (2025).</a:t>
            </a:r>
            <a:r>
              <a:rPr lang="en-US" sz="1500" dirty="0">
                <a:solidFill>
                  <a:schemeClr val="tx1"/>
                </a:solidFill>
              </a:rPr>
              <a:t> Lightweight Model for Poultry Disease Detection from Fecal Images Using Multi-Color Space Feature Optimization and Machine Learning. </a:t>
            </a:r>
            <a:r>
              <a:rPr lang="en-US" sz="1500" i="1" dirty="0">
                <a:solidFill>
                  <a:schemeClr val="tx1"/>
                </a:solidFill>
              </a:rPr>
              <a:t>arXiv preprint</a:t>
            </a:r>
            <a:r>
              <a:rPr lang="en-US" sz="1500" dirty="0">
                <a:solidFill>
                  <a:schemeClr val="tx1"/>
                </a:solidFill>
              </a:rPr>
              <a:t>, arXiv:2507.10056v1.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Khaliq, A., Khan, A., Jan, S., Umair, M., Gulshair, A., Ali, A., &amp; Shah, U. A. (2025).</a:t>
            </a:r>
            <a:r>
              <a:rPr lang="en-US" sz="1500" dirty="0">
                <a:solidFill>
                  <a:schemeClr val="tx1"/>
                </a:solidFill>
              </a:rPr>
              <a:t> AI-Driven Smart Agriculture: An Integrated Approach for Soil Analysis, Irrigation, and Crop-Fertilizer Recommendations. </a:t>
            </a:r>
            <a:r>
              <a:rPr lang="en-US" sz="1500" i="1" dirty="0">
                <a:solidFill>
                  <a:schemeClr val="tx1"/>
                </a:solidFill>
              </a:rPr>
              <a:t>IEEE Access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Sambo, A. A., Zira, R. A., Yahaya, A., &amp; Dantata, S. A. (2025).</a:t>
            </a:r>
            <a:r>
              <a:rPr lang="en-US" sz="1500" dirty="0">
                <a:solidFill>
                  <a:schemeClr val="tx1"/>
                </a:solidFill>
              </a:rPr>
              <a:t> Poultry Disease Detection Using Machine Learning: A Review. </a:t>
            </a:r>
            <a:r>
              <a:rPr lang="en-US" sz="1500" i="1" dirty="0">
                <a:solidFill>
                  <a:schemeClr val="tx1"/>
                </a:solidFill>
              </a:rPr>
              <a:t>HP Journal of Scientific Development Research</a:t>
            </a:r>
            <a:r>
              <a:rPr lang="en-US" sz="1500" dirty="0">
                <a:solidFill>
                  <a:schemeClr val="tx1"/>
                </a:solidFill>
              </a:rPr>
              <a:t>, 8(9).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Seerangan, C., &amp; Venkata Ravi, R. (2024).</a:t>
            </a:r>
            <a:r>
              <a:rPr lang="en-US" sz="1500" dirty="0">
                <a:solidFill>
                  <a:schemeClr val="tx1"/>
                </a:solidFill>
              </a:rPr>
              <a:t> E-Agri Commerce Transforming Agricultural Markets in the Digital Age. In </a:t>
            </a:r>
            <a:r>
              <a:rPr lang="en-US" sz="1500" i="1" dirty="0">
                <a:solidFill>
                  <a:schemeClr val="tx1"/>
                </a:solidFill>
              </a:rPr>
              <a:t>Dimensions of E-Governance in India: A Rural Perspective</a:t>
            </a:r>
            <a:r>
              <a:rPr lang="en-US" sz="1500" dirty="0">
                <a:solidFill>
                  <a:schemeClr val="tx1"/>
                </a:solidFill>
              </a:rPr>
              <a:t> (pp. 102-110). Current Publications.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06BB68-2056-A084-4B64-F02DB5DE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11. </a:t>
            </a:r>
            <a:r>
              <a:rPr lang="en-GB" sz="4400" b="1" dirty="0" smtClean="0">
                <a:cs typeface="Times New Roman" panose="02020603050405020304" pitchFamily="18" charset="0"/>
              </a:rPr>
              <a:t>References</a:t>
            </a:r>
            <a:endParaRPr lang="en-GB" sz="44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487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86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12376</TotalTime>
  <Words>1493</Words>
  <Application>Microsoft Office PowerPoint</Application>
  <PresentationFormat>Widescreen</PresentationFormat>
  <Paragraphs>134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Office Theme</vt:lpstr>
      <vt:lpstr>PowerPoint Presentation</vt:lpstr>
      <vt:lpstr>Outline</vt:lpstr>
      <vt:lpstr>1. Introduction</vt:lpstr>
      <vt:lpstr>2. Problem Statement</vt:lpstr>
      <vt:lpstr>3. Objective</vt:lpstr>
      <vt:lpstr>4. Significance Of The Study</vt:lpstr>
      <vt:lpstr>5. Scope</vt:lpstr>
      <vt:lpstr>6. LITERATURE REVIEW (Brief)</vt:lpstr>
      <vt:lpstr>7. Methodology</vt:lpstr>
      <vt:lpstr>8. Expected Output / Results</vt:lpstr>
      <vt:lpstr>9. Project Work Plan / Time Schedule</vt:lpstr>
      <vt:lpstr>10. Conclusion</vt:lpstr>
      <vt:lpstr>11.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Ntow Botchwey</dc:creator>
  <cp:lastModifiedBy>USER</cp:lastModifiedBy>
  <cp:revision>256</cp:revision>
  <dcterms:created xsi:type="dcterms:W3CDTF">2021-09-14T13:24:40Z</dcterms:created>
  <dcterms:modified xsi:type="dcterms:W3CDTF">2026-02-23T08:04:12Z</dcterms:modified>
</cp:coreProperties>
</file>